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notesMaster" Target="notesMasters/notesMaster1.xml" /><Relationship Id="rId18" Type="http://schemas.openxmlformats.org/officeDocument/2006/relationships/viewProps" Target="viewProps.xml" /><Relationship Id="rId17" Type="http://schemas.openxmlformats.org/officeDocument/2006/relationships/presProps" Target="presProps.xml" /><Relationship Id="rId1" Type="http://schemas.openxmlformats.org/officeDocument/2006/relationships/slideMaster" Target="slideMasters/slideMaster1.xml" /><Relationship Id="rId20" Type="http://schemas.openxmlformats.org/officeDocument/2006/relationships/tableStyles" Target="tableStyles.xml" /><Relationship Id="rId1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want to start with a real archaeological case.</a:t>
            </a:r>
          </a:p>
          <a:p>
            <a:pPr lvl="0" indent="0" marL="0">
              <a:buNone/>
            </a:pPr>
          </a:p>
          <a:p>
            <a:pPr lvl="0" indent="0" marL="0">
              <a:buNone/>
            </a:pPr>
            <a:r>
              <a:rPr/>
              <a:t>A medieval castle disappeared from the landscape. The traces are still there, but only as faint signals across drone sensor layers. DroneML helps archaeologists find those signals. DroneATLAS makes that workflow accessible as a research platform.</a:t>
            </a:r>
          </a:p>
          <a:p>
            <a:pPr lvl="0" indent="0" marL="0">
              <a:buNone/>
            </a:pPr>
          </a:p>
          <a:p>
            <a:pPr lvl="0" indent="0" marL="0">
              <a:buNone/>
            </a:pPr>
            <a:r>
              <a:rPr/>
              <a:t>The case is ’t Huijs ten Bosch near Weesp. It was built after 1220 and destroyed in 1672. Today, it is no longer visible as a castle. What remains are subtle clues: cropmarks, thermal differences, elevation changes, and geometric patterns in the soil.</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project is also a collaboration story. 4D Research Lab brings the archaeological expertise: fieldwork, drone sensing, sensor interpretation, and the real research question.</a:t>
            </a:r>
          </a:p>
          <a:p>
            <a:pPr lvl="0" indent="0" marL="0">
              <a:buNone/>
            </a:pPr>
          </a:p>
          <a:p>
            <a:pPr lvl="0" indent="0" marL="0">
              <a:buNone/>
            </a:pPr>
            <a:r>
              <a:rPr/>
              <a:t>The Netherlands eScience Center brings research software engineering: machine learning, software architecture, usability, testing, and reusable infrastructure.</a:t>
            </a:r>
          </a:p>
          <a:p>
            <a:pPr lvl="0" indent="0" marL="0">
              <a:buNone/>
            </a:pPr>
          </a:p>
          <a:p>
            <a:pPr lvl="0" indent="0" marL="0">
              <a:buNone/>
            </a:pPr>
            <a:r>
              <a:rPr/>
              <a:t>The important point is that the software is not developed in isolation. It comes directly from a real expert workflow.</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Weesp site gives us a concrete example. 4D Research Lab investigated the medieval castle site through multiple drone campaigns in February, June, and September 2022.</a:t>
            </a:r>
          </a:p>
          <a:p>
            <a:pPr lvl="0" indent="0" marL="0">
              <a:buNone/>
            </a:pPr>
          </a:p>
          <a:p>
            <a:pPr lvl="0" indent="0" marL="0">
              <a:buNone/>
            </a:pPr>
            <a:r>
              <a:rPr/>
              <a:t>They used optical imagery, thermal infrared sensing, multispectral imagery, and LiDAR. The LiDAR campaign alone collected roughly 122 million points. Across the interpretation process, the report documents 55 anomalies.</a:t>
            </a:r>
          </a:p>
          <a:p>
            <a:pPr lvl="0" indent="0" marL="0">
              <a:buNone/>
            </a:pPr>
          </a:p>
          <a:p>
            <a:pPr lvl="0" indent="0" marL="0">
              <a:buNone/>
            </a:pPr>
            <a:r>
              <a:rPr/>
              <a:t>This is not an abstract dataset. It is a real archaeological investigation with real ambiguity.</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sensor sees a different physical signal. Optical imagery can show cropmarks and soil marks. Thermal infrared can show differences in heat retention, for example where buried stone structures warm and cool differently from surrounding soil.</a:t>
            </a:r>
          </a:p>
          <a:p>
            <a:pPr lvl="0" indent="0" marL="0">
              <a:buNone/>
            </a:pPr>
          </a:p>
          <a:p>
            <a:pPr lvl="0" indent="0" marL="0">
              <a:buNone/>
            </a:pPr>
            <a:r>
              <a:rPr/>
              <a:t>Multispectral data and NDVI can show vegetation stress. LiDAR and elevation models can reveal small changes in terrain morphology.</a:t>
            </a:r>
          </a:p>
          <a:p>
            <a:pPr lvl="0" indent="0" marL="0">
              <a:buNone/>
            </a:pPr>
          </a:p>
          <a:p>
            <a:pPr lvl="0" indent="0" marL="0">
              <a:buNone/>
            </a:pPr>
            <a:r>
              <a:rPr/>
              <a:t>The castle is not simply visible. It emerges when these layers are compared.</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creates the bottleneck. The challenge is no longer only collecting data. Drones can generate very high-resolution data quickly. The challenge is interpreting it.</a:t>
            </a:r>
          </a:p>
          <a:p>
            <a:pPr lvl="0" indent="0" marL="0">
              <a:buNone/>
            </a:pPr>
          </a:p>
          <a:p>
            <a:pPr lvl="0" indent="0" marL="0">
              <a:buNone/>
            </a:pPr>
            <a:r>
              <a:rPr/>
              <a:t>An archaeologist has to inspect many layers, compare them, mark anomalies, assess confidence, and decide whether the pattern may be archaeological, natural, or modern disturbance.</a:t>
            </a:r>
          </a:p>
          <a:p>
            <a:pPr lvl="0" indent="0" marL="0">
              <a:buNone/>
            </a:pPr>
          </a:p>
          <a:p>
            <a:pPr lvl="0" indent="0" marL="0">
              <a:buNone/>
            </a:pPr>
            <a:r>
              <a:rPr/>
              <a:t>That work is valuable, but it is slow and hard to scale to larger sites or repeated surveys.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DroneML is the core machine-learning method.</a:t>
            </a:r>
          </a:p>
          <a:p>
            <a:pPr lvl="0" indent="0" marL="0">
              <a:buNone/>
            </a:pPr>
          </a:p>
          <a:p>
            <a:pPr lvl="0" indent="0" marL="0">
              <a:buNone/>
            </a:pPr>
            <a:r>
              <a:rPr/>
              <a:t>It is designed to help find anomaly patterns in multi-sensor drone data. This is important: we are not detecting simple objects like cars or buildings. Archaeological evidence is fuzzy, incomplete, and context-dependent.</a:t>
            </a:r>
          </a:p>
          <a:p>
            <a:pPr lvl="0" indent="0" marL="0">
              <a:buNone/>
            </a:pPr>
          </a:p>
          <a:p>
            <a:pPr lvl="0" indent="0" marL="0">
              <a:buNone/>
            </a:pPr>
            <a:r>
              <a:rPr/>
              <a:t>The software supports interpretation. It does not replace archaeological judgement.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workflow keeps the expert in the loop. The archaeologist marks positive examples: areas that look relevant. They also mark negative examples: areas that should not be treated as archaeological signals.</a:t>
            </a:r>
          </a:p>
          <a:p>
            <a:pPr lvl="0" indent="0" marL="0">
              <a:buNone/>
            </a:pPr>
          </a:p>
          <a:p>
            <a:pPr lvl="0" indent="0" marL="0">
              <a:buNone/>
            </a:pPr>
            <a:r>
              <a:rPr/>
              <a:t>DroneML combines two machine-learning strengths. A pretrained UNet extracts spatial features from the raster data. A RandomForest classifier is trained on those features using the small number of expert labels.</a:t>
            </a:r>
          </a:p>
          <a:p>
            <a:pPr lvl="0" indent="0" marL="0">
              <a:buNone/>
            </a:pPr>
          </a:p>
          <a:p>
            <a:pPr lvl="0" indent="0" marL="0">
              <a:buNone/>
            </a:pPr>
            <a:r>
              <a:rPr/>
              <a:t>The result is a probability map per pixel, fast enough to support interactive exploration.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original DroneML work produced concrete research software.</a:t>
            </a:r>
          </a:p>
          <a:p>
            <a:pPr lvl="0" indent="0" marL="0">
              <a:buNone/>
            </a:pPr>
          </a:p>
          <a:p>
            <a:pPr lvl="0" indent="0" marL="0">
              <a:buNone/>
            </a:pPr>
            <a:r>
              <a:rPr/>
              <a:t>CoeusAI is the QGIS plugin. It makes the workflow usable inside a familiar open-source GIS environment. Pycoeus is the Python and command-line core. It makes the method reusable beyond the interface: in scripts, services, and pipelines.</a:t>
            </a:r>
          </a:p>
          <a:p>
            <a:pPr lvl="0" indent="0" marL="0">
              <a:buNone/>
            </a:pPr>
          </a:p>
          <a:p>
            <a:pPr lvl="0" indent="0" marL="0">
              <a:buNone/>
            </a:pPr>
            <a:r>
              <a:rPr/>
              <a:t>That separation is important from a research software engineering perspective.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DroneATLAS builds on this core. The goal is to present the DroneML workflow as a researcher-facing platform.</a:t>
            </a:r>
          </a:p>
          <a:p>
            <a:pPr lvl="0" indent="0" marL="0">
              <a:buNone/>
            </a:pPr>
          </a:p>
          <a:p>
            <a:pPr lvl="0" indent="0" marL="0">
              <a:buNone/>
            </a:pPr>
            <a:r>
              <a:rPr/>
              <a:t>A researcher should be able to work with projects, areas, metadata, layers, processing, maps, and machine-learning outputs in one environment.</a:t>
            </a:r>
          </a:p>
          <a:p>
            <a:pPr lvl="0" indent="0" marL="0">
              <a:buNone/>
            </a:pPr>
          </a:p>
          <a:p>
            <a:pPr lvl="0" indent="0" marL="0">
              <a:buNone/>
            </a:pPr>
            <a:r>
              <a:rPr/>
              <a:t>This is where the workflow becomes more accessible. The user does not start from code. They start from their drone data and their research question.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platform workflow is simple. Researchers bring their drone-derived layers into DroneATLAS.</a:t>
            </a:r>
          </a:p>
          <a:p>
            <a:pPr lvl="0" indent="0" marL="0">
              <a:buNone/>
            </a:pPr>
          </a:p>
          <a:p>
            <a:pPr lvl="0" indent="0" marL="0">
              <a:buNone/>
            </a:pPr>
            <a:r>
              <a:rPr/>
              <a:t>The platform organizes those layers, prepares the geospatial data, connects the processing pipeline, runs DroneML through the analytical core, and returns the output as a map layer.</a:t>
            </a:r>
          </a:p>
          <a:p>
            <a:pPr lvl="0" indent="0" marL="0">
              <a:buNone/>
            </a:pPr>
          </a:p>
          <a:p>
            <a:pPr lvl="0" indent="0" marL="0">
              <a:buNone/>
            </a:pPr>
            <a:r>
              <a:rPr/>
              <a:t>That output is not just a file on disk. It comes back into the research environment where it can be compared, inspected, and interpreted together with the original sensor layers.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we move from the explanation into the spatial demo.</a:t>
            </a:r>
          </a:p>
          <a:p>
            <a:pPr lvl="0" indent="0" marL="0">
              <a:buNone/>
            </a:pPr>
          </a:p>
          <a:p>
            <a:pPr lvl="0" indent="0" marL="0">
              <a:buNone/>
            </a:pPr>
            <a:r>
              <a:rPr/>
              <a:t>Here the platform becomes a research workspace. We can move into the site, follow the drone survey path, and see how the sensor layers relate to the landscape.</a:t>
            </a:r>
          </a:p>
          <a:p>
            <a:pPr lvl="0" indent="0" marL="0">
              <a:buNone/>
            </a:pPr>
          </a:p>
          <a:p>
            <a:pPr lvl="0" indent="0" marL="0">
              <a:buNone/>
            </a:pPr>
            <a:r>
              <a:rPr/>
              <a:t>This is the cinematic part of the presentation, but it is still part of the argument. The point is to make the workflow visible: data capture, layered evidence, spatial comparison, and interpretation.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final result is the machine-learning output as a spatial probability surface.</a:t>
            </a:r>
          </a:p>
          <a:p>
            <a:pPr lvl="0" indent="0" marL="0">
              <a:buNone/>
            </a:pPr>
          </a:p>
          <a:p>
            <a:pPr lvl="0" indent="0" marL="0">
              <a:buNone/>
            </a:pPr>
            <a:r>
              <a:rPr/>
              <a:t>The model does not tell us archaeological truth. It tells us where the signal may be strongest. It helps identify where expert attention should focus: possible wall traces, moat edges, buried stone material, or other anomalies.</a:t>
            </a:r>
          </a:p>
          <a:p>
            <a:pPr lvl="0" indent="0" marL="0">
              <a:buNone/>
            </a:pPr>
          </a:p>
          <a:p>
            <a:pPr lvl="0" indent="0" marL="0">
              <a:buNone/>
            </a:pPr>
            <a:r>
              <a:rPr/>
              <a:t>DroneML makes the hidden signal detectable. DroneATLAS makes the workflow accessible, visual, and reusable.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research software engineering, that is the point: not just code, but scientific infrastructure that helps researchers see and interpret evidence they could otherwise miss.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DroneML + DroneATLAS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In search of a castle</a:t>
            </a:r>
            <a:br/>
            <a:br/>
            <a:r>
              <a:rPr/>
              <a:t>Netherlands eScience Center / 4D Research Lab</a:t>
            </a:r>
          </a:p>
        </p:txBody>
      </p:sp>
      <p:sp>
        <p:nvSpPr>
          <p:cNvPr id="4" name="Date Placeholder 3"/>
          <p:cNvSpPr>
            <a:spLocks noGrp="1"/>
          </p:cNvSpPr>
          <p:nvPr>
            <p:ph idx="10" sz="half" type="dt"/>
          </p:nvPr>
        </p:nvSpPr>
        <p:spPr/>
        <p:txBody>
          <a:bodyPr/>
          <a:lstStyle/>
          <a:p>
            <a:pPr lvl="0" indent="0" marL="0">
              <a:buNone/>
            </a:pPr>
            <a:r>
              <a:rPr/>
              <a:t>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 Search Of A Castle</a:t>
            </a:r>
          </a:p>
        </p:txBody>
      </p:sp>
      <p:sp>
        <p:nvSpPr>
          <p:cNvPr id="3" name="Content Placeholder 2"/>
          <p:cNvSpPr>
            <a:spLocks noGrp="1"/>
          </p:cNvSpPr>
          <p:nvPr>
            <p:ph idx="1"/>
          </p:nvPr>
        </p:nvSpPr>
        <p:spPr/>
        <p:txBody>
          <a:bodyPr/>
          <a:lstStyle/>
          <a:p>
            <a:pPr lvl="0" indent="0" marL="0">
              <a:buNone/>
            </a:pPr>
            <a:r>
              <a:rPr b="1"/>
              <a:t>A medieval castle disappeared from the landscape.</a:t>
            </a:r>
          </a:p>
          <a:p>
            <a:pPr lvl="0" indent="0" marL="0">
              <a:buNone/>
            </a:pPr>
            <a:r>
              <a:rPr/>
              <a:t>The traces are still there, but only as faint signals across drone sensor layers.</a:t>
            </a:r>
          </a:p>
          <a:p>
            <a:pPr lvl="0" indent="0" marL="0">
              <a:buNone/>
            </a:pPr>
            <a:r>
              <a:rPr/>
              <a:t>DroneML helps archaeologists find those signals.</a:t>
            </a:r>
          </a:p>
          <a:p>
            <a:pPr lvl="0" indent="0" marL="0">
              <a:buNone/>
            </a:pPr>
            <a:r>
              <a:rPr/>
              <a:t>DroneATLAS makes that workflow accessible as a research platform.</a:t>
            </a:r>
          </a:p>
          <a:p>
            <a:pPr lvl="0" indent="0" marL="0">
              <a:buNone/>
            </a:pPr>
            <a:r>
              <a:rPr b="1"/>
              <a:t>Visual placeholder:</a:t>
            </a:r>
            <a:r>
              <a:rPr/>
              <a:t> </a:t>
            </a:r>
            <a:r>
              <a:rPr>
                <a:latin typeface="Courier"/>
              </a:rPr>
              <a:t>01-historical-castle.jpg</a:t>
            </a:r>
            <a:r>
              <a:rPr/>
              <a:t> + </a:t>
            </a:r>
            <a:r>
              <a:rPr>
                <a:latin typeface="Courier"/>
              </a:rPr>
              <a:t>02-weesp-field.jpg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Collaboration</a:t>
            </a:r>
          </a:p>
        </p:txBody>
      </p:sp>
      <p:sp>
        <p:nvSpPr>
          <p:cNvPr id="3" name="Content Placeholder 2"/>
          <p:cNvSpPr>
            <a:spLocks noGrp="1"/>
          </p:cNvSpPr>
          <p:nvPr>
            <p:ph idx="1"/>
          </p:nvPr>
        </p:nvSpPr>
        <p:spPr/>
        <p:txBody>
          <a:bodyPr/>
          <a:lstStyle/>
          <a:p>
            <a:pPr lvl="0" indent="0" marL="0">
              <a:buNone/>
            </a:pPr>
            <a:r>
              <a:rPr b="1"/>
              <a:t>Domain science meets research software engineering.</a:t>
            </a:r>
          </a:p>
          <a:p>
            <a:pPr lvl="0"/>
            <a:r>
              <a:rPr/>
              <a:t>4D Research Lab / University of Amsterdam: archaeology, drone surveys, sensor interpretation</a:t>
            </a:r>
          </a:p>
          <a:p>
            <a:pPr lvl="0"/>
            <a:r>
              <a:rPr/>
              <a:t>Netherlands eScience Center: RSE, machine learning, reusable software</a:t>
            </a:r>
          </a:p>
          <a:p>
            <a:pPr lvl="0"/>
            <a:r>
              <a:rPr/>
              <a:t>Leiden Archaeological Sciences and Netherlands Forensic Institute: wider collaboration</a:t>
            </a:r>
          </a:p>
          <a:p>
            <a:pPr lvl="0"/>
            <a:r>
              <a:rPr/>
              <a:t>Gemeente Amsterdam and research communities: case context, testing, reuse</a:t>
            </a:r>
          </a:p>
          <a:p>
            <a:pPr lvl="0" indent="0" marL="0">
              <a:buNone/>
            </a:pPr>
            <a:r>
              <a:rPr b="1"/>
              <a:t>Visual placeholder:</a:t>
            </a:r>
            <a:r>
              <a:rPr/>
              <a:t> partner cards / logos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Weesp Use Case</a:t>
            </a:r>
          </a:p>
        </p:txBody>
      </p:sp>
      <p:sp>
        <p:nvSpPr>
          <p:cNvPr id="3" name="Content Placeholder 2"/>
          <p:cNvSpPr>
            <a:spLocks noGrp="1"/>
          </p:cNvSpPr>
          <p:nvPr>
            <p:ph idx="1"/>
          </p:nvPr>
        </p:nvSpPr>
        <p:spPr/>
        <p:txBody>
          <a:bodyPr/>
          <a:lstStyle/>
          <a:p>
            <a:pPr lvl="0" indent="0" marL="0">
              <a:buNone/>
            </a:pPr>
            <a:r>
              <a:rPr b="1"/>
              <a:t>’t Huijs ten Bosch, Weesp</a:t>
            </a:r>
          </a:p>
          <a:p>
            <a:pPr lvl="0"/>
            <a:r>
              <a:rPr/>
              <a:t>Field campaigns in February, June, and September 2022</a:t>
            </a:r>
          </a:p>
          <a:p>
            <a:pPr lvl="0"/>
            <a:r>
              <a:rPr/>
              <a:t>Optical, thermal infrared, multispectral, and LiDAR sensors</a:t>
            </a:r>
          </a:p>
          <a:p>
            <a:pPr lvl="0"/>
            <a:r>
              <a:rPr/>
              <a:t>Around 122 million LiDAR points collected</a:t>
            </a:r>
          </a:p>
          <a:p>
            <a:pPr lvl="0"/>
            <a:r>
              <a:rPr/>
              <a:t>55 documented anomalies in the interpretation workflow</a:t>
            </a:r>
          </a:p>
          <a:p>
            <a:pPr lvl="0" indent="0" marL="0">
              <a:buNone/>
            </a:pPr>
            <a:r>
              <a:rPr b="1"/>
              <a:t>Visual placeholder:</a:t>
            </a:r>
            <a:r>
              <a:rPr/>
              <a:t> </a:t>
            </a:r>
            <a:r>
              <a:rPr>
                <a:latin typeface="Courier"/>
              </a:rPr>
              <a:t>02-weesp-field.jpg</a:t>
            </a:r>
            <a:r>
              <a:rPr/>
              <a:t> + </a:t>
            </a:r>
            <a:r>
              <a:rPr>
                <a:latin typeface="Courier"/>
              </a:rPr>
              <a:t>03-drone-fieldwork.jpg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Many Sensors, One Hidden Site</a:t>
            </a:r>
          </a:p>
        </p:txBody>
      </p:sp>
      <p:sp>
        <p:nvSpPr>
          <p:cNvPr id="3" name="Content Placeholder 2"/>
          <p:cNvSpPr>
            <a:spLocks noGrp="1"/>
          </p:cNvSpPr>
          <p:nvPr>
            <p:ph idx="1"/>
          </p:nvPr>
        </p:nvSpPr>
        <p:spPr/>
        <p:txBody>
          <a:bodyPr/>
          <a:lstStyle/>
          <a:p>
            <a:pPr lvl="0" indent="0" marL="0">
              <a:buNone/>
            </a:pPr>
            <a:r>
              <a:rPr b="1"/>
              <a:t>Each sensor captures a different clue.</a:t>
            </a:r>
          </a:p>
          <a:p>
            <a:pPr lvl="0"/>
            <a:r>
              <a:rPr/>
              <a:t>Optical: cropmarks and soil marks</a:t>
            </a:r>
          </a:p>
          <a:p>
            <a:pPr lvl="0"/>
            <a:r>
              <a:rPr/>
              <a:t>Thermal infrared: heat-retention differences</a:t>
            </a:r>
          </a:p>
          <a:p>
            <a:pPr lvl="0"/>
            <a:r>
              <a:rPr/>
              <a:t>NDVI / multispectral: vegetation stress</a:t>
            </a:r>
          </a:p>
          <a:p>
            <a:pPr lvl="0"/>
            <a:r>
              <a:rPr/>
              <a:t>LiDAR / DTM: microtopography and earthworks</a:t>
            </a:r>
          </a:p>
          <a:p>
            <a:pPr lvl="0" indent="0" marL="0">
              <a:buNone/>
            </a:pPr>
            <a:r>
              <a:rPr/>
              <a:t>The site appears when these layers are compared.</a:t>
            </a:r>
          </a:p>
          <a:p>
            <a:pPr lvl="0" indent="0" marL="0">
              <a:buNone/>
            </a:pPr>
            <a:r>
              <a:rPr b="1"/>
              <a:t>Visual placeholders:</a:t>
            </a:r>
            <a:r>
              <a:rPr/>
              <a:t> </a:t>
            </a:r>
            <a:r>
              <a:rPr>
                <a:latin typeface="Courier"/>
              </a:rPr>
              <a:t>05-optical-annotated.jpg</a:t>
            </a:r>
            <a:r>
              <a:rPr/>
              <a:t>, </a:t>
            </a:r>
            <a:r>
              <a:rPr>
                <a:latin typeface="Courier"/>
              </a:rPr>
              <a:t>06-thermal-annotated.jpg</a:t>
            </a:r>
            <a:r>
              <a:rPr/>
              <a:t>, </a:t>
            </a:r>
            <a:r>
              <a:rPr>
                <a:latin typeface="Courier"/>
              </a:rPr>
              <a:t>07-lidar-dtm-annotated.jpg</a:t>
            </a:r>
            <a:r>
              <a:rPr/>
              <a:t>, </a:t>
            </a:r>
            <a:r>
              <a:rPr>
                <a:latin typeface="Courier"/>
              </a:rPr>
              <a:t>08-ndvi-annotated.jpg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Interpretation Bottleneck</a:t>
            </a:r>
          </a:p>
        </p:txBody>
      </p:sp>
      <p:sp>
        <p:nvSpPr>
          <p:cNvPr id="3" name="Content Placeholder 2"/>
          <p:cNvSpPr>
            <a:spLocks noGrp="1"/>
          </p:cNvSpPr>
          <p:nvPr>
            <p:ph idx="1"/>
          </p:nvPr>
        </p:nvSpPr>
        <p:spPr/>
        <p:txBody>
          <a:bodyPr/>
          <a:lstStyle/>
          <a:p>
            <a:pPr lvl="0" indent="0" marL="0">
              <a:buNone/>
            </a:pPr>
            <a:r>
              <a:rPr b="1"/>
              <a:t>The hard part is interpretation at scale.</a:t>
            </a:r>
          </a:p>
          <a:p>
            <a:pPr lvl="0" indent="0" marL="0">
              <a:buNone/>
            </a:pPr>
            <a:r>
              <a:rPr/>
              <a:t>Archaeologists inspect many layers, compare them, mark anomalies, assign confidence, and decide whether a pattern may be archaeological.</a:t>
            </a:r>
          </a:p>
          <a:p>
            <a:pPr lvl="0" indent="0" marL="0">
              <a:buNone/>
            </a:pPr>
            <a:r>
              <a:rPr/>
              <a:t>In the Weesp report, this produced </a:t>
            </a:r>
            <a:r>
              <a:rPr b="1"/>
              <a:t>55 documented anomalies</a:t>
            </a:r>
            <a:r>
              <a:rPr/>
              <a:t>.</a:t>
            </a:r>
          </a:p>
          <a:p>
            <a:pPr lvl="0" indent="0" marL="0">
              <a:buNone/>
            </a:pPr>
            <a:r>
              <a:rPr b="1"/>
              <a:t>Visual placeholder:</a:t>
            </a:r>
            <a:r>
              <a:rPr/>
              <a:t> </a:t>
            </a:r>
            <a:r>
              <a:rPr>
                <a:latin typeface="Courier"/>
              </a:rPr>
              <a:t>09-all-anomalies.jpg</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DroneML: The Core</a:t>
            </a:r>
          </a:p>
        </p:txBody>
      </p:sp>
      <p:sp>
        <p:nvSpPr>
          <p:cNvPr id="3" name="Content Placeholder 2"/>
          <p:cNvSpPr>
            <a:spLocks noGrp="1"/>
          </p:cNvSpPr>
          <p:nvPr>
            <p:ph idx="1"/>
          </p:nvPr>
        </p:nvSpPr>
        <p:spPr/>
        <p:txBody>
          <a:bodyPr/>
          <a:lstStyle/>
          <a:p>
            <a:pPr lvl="0" indent="0" marL="0">
              <a:buNone/>
            </a:pPr>
            <a:r>
              <a:rPr b="1"/>
              <a:t>Find anomaly patterns, not simple objects.</a:t>
            </a:r>
          </a:p>
          <a:p>
            <a:pPr lvl="0" indent="0" marL="0">
              <a:buNone/>
            </a:pPr>
            <a:r>
              <a:rPr/>
              <a:t>DroneML is the scientific machine-learning engine for multi-sensor drone data.</a:t>
            </a:r>
          </a:p>
          <a:p>
            <a:pPr lvl="0" indent="0" marL="0">
              <a:buNone/>
            </a:pPr>
            <a:r>
              <a:rPr/>
              <a:t>It supports expert interpretation by surfacing candidate signals across multiband geospatial layers.</a:t>
            </a:r>
          </a:p>
          <a:p>
            <a:pPr lvl="0" indent="0" marL="0">
              <a:buNone/>
            </a:pPr>
            <a:r>
              <a:rPr b="1"/>
              <a:t>Diagram:</a:t>
            </a:r>
            <a:r>
              <a:rPr/>
              <a:t> multi-sensor GeoTIFFs -&gt; DroneML engine -&gt; candidate signals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The Machine Learning Works</a:t>
            </a:r>
          </a:p>
        </p:txBody>
      </p:sp>
      <p:sp>
        <p:nvSpPr>
          <p:cNvPr id="3" name="Content Placeholder 2"/>
          <p:cNvSpPr>
            <a:spLocks noGrp="1"/>
          </p:cNvSpPr>
          <p:nvPr>
            <p:ph idx="1"/>
          </p:nvPr>
        </p:nvSpPr>
        <p:spPr/>
        <p:txBody>
          <a:bodyPr/>
          <a:lstStyle/>
          <a:p>
            <a:pPr lvl="0" indent="0" marL="0">
              <a:buNone/>
            </a:pPr>
            <a:r>
              <a:rPr b="1"/>
              <a:t>Fast feedback keeps the expert in the loop.</a:t>
            </a:r>
          </a:p>
          <a:p>
            <a:pPr lvl="0" indent="-342900" marL="342900">
              <a:buAutoNum type="arabicPeriod"/>
            </a:pPr>
            <a:r>
              <a:rPr/>
              <a:t>Expert marks positive and negative examples</a:t>
            </a:r>
          </a:p>
          <a:p>
            <a:pPr lvl="0" indent="-342900" marL="342900">
              <a:buAutoNum type="arabicPeriod"/>
            </a:pPr>
            <a:r>
              <a:rPr/>
              <a:t>A pretrained UNet extracts spatial features</a:t>
            </a:r>
          </a:p>
          <a:p>
            <a:pPr lvl="0" indent="-342900" marL="342900">
              <a:buAutoNum type="arabicPeriod"/>
            </a:pPr>
            <a:r>
              <a:rPr/>
              <a:t>A RandomForest classifier learns from the labels</a:t>
            </a:r>
          </a:p>
          <a:p>
            <a:pPr lvl="0" indent="-342900" marL="342900">
              <a:buAutoNum type="arabicPeriod"/>
            </a:pPr>
            <a:r>
              <a:rPr/>
              <a:t>The output is a probability map per pixel</a:t>
            </a:r>
          </a:p>
          <a:p>
            <a:pPr lvl="0" indent="0" marL="0">
              <a:buNone/>
            </a:pPr>
            <a:r>
              <a:rPr b="1"/>
              <a:t>Visual placeholder:</a:t>
            </a:r>
            <a:r>
              <a:rPr/>
              <a:t> </a:t>
            </a:r>
            <a:r>
              <a:rPr>
                <a:latin typeface="Courier"/>
              </a:rPr>
              <a:t>10-coeus-probability.png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CoeusAI And Pycoeus</a:t>
            </a:r>
          </a:p>
        </p:txBody>
      </p:sp>
      <p:sp>
        <p:nvSpPr>
          <p:cNvPr id="3" name="Content Placeholder 2"/>
          <p:cNvSpPr>
            <a:spLocks noGrp="1"/>
          </p:cNvSpPr>
          <p:nvPr>
            <p:ph idx="1"/>
          </p:nvPr>
        </p:nvSpPr>
        <p:spPr/>
        <p:txBody>
          <a:bodyPr/>
          <a:lstStyle/>
          <a:p>
            <a:pPr lvl="0" indent="0" marL="0">
              <a:buNone/>
            </a:pPr>
            <a:r>
              <a:rPr b="1"/>
              <a:t>Usable interface. Reusable analytical core.</a:t>
            </a:r>
          </a:p>
          <a:p>
            <a:pPr lvl="0"/>
            <a:r>
              <a:rPr/>
              <a:t>CoeusAI: QGIS plugin for the interactive workflow</a:t>
            </a:r>
          </a:p>
          <a:p>
            <a:pPr lvl="0"/>
            <a:r>
              <a:rPr/>
              <a:t>Pycoeus: Python and command-line core</a:t>
            </a:r>
          </a:p>
          <a:p>
            <a:pPr lvl="0"/>
            <a:r>
              <a:rPr/>
              <a:t>Separation of usability and reusable infrastructure</a:t>
            </a:r>
          </a:p>
          <a:p>
            <a:pPr lvl="0" indent="0" marL="0">
              <a:buNone/>
            </a:pPr>
            <a:r>
              <a:rPr b="1"/>
              <a:t>Visual placeholders:</a:t>
            </a:r>
            <a:r>
              <a:rPr/>
              <a:t> </a:t>
            </a:r>
            <a:r>
              <a:rPr>
                <a:latin typeface="Courier"/>
              </a:rPr>
              <a:t>10-coeus-probability.png</a:t>
            </a:r>
            <a:r>
              <a:rPr/>
              <a:t> + </a:t>
            </a:r>
            <a:r>
              <a:rPr>
                <a:latin typeface="Courier"/>
              </a:rPr>
              <a:t>11-coeus-qgis.jpg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DroneATLAS: The Research Platform</a:t>
            </a:r>
          </a:p>
        </p:txBody>
      </p:sp>
      <p:sp>
        <p:nvSpPr>
          <p:cNvPr id="3" name="Content Placeholder 2"/>
          <p:cNvSpPr>
            <a:spLocks noGrp="1"/>
          </p:cNvSpPr>
          <p:nvPr>
            <p:ph idx="1"/>
          </p:nvPr>
        </p:nvSpPr>
        <p:spPr/>
        <p:txBody>
          <a:bodyPr/>
          <a:lstStyle/>
          <a:p>
            <a:pPr lvl="0" indent="0" marL="0">
              <a:buNone/>
            </a:pPr>
            <a:r>
              <a:rPr b="1"/>
              <a:t>The DroneML workflow as a research environment.</a:t>
            </a:r>
          </a:p>
          <a:p>
            <a:pPr lvl="0" indent="0" marL="0">
              <a:buNone/>
            </a:pPr>
            <a:r>
              <a:rPr/>
              <a:t>Researchers work with projects, areas, metadata, layers, processing, maps, and machine-learning outputs in one place.</a:t>
            </a:r>
          </a:p>
          <a:p>
            <a:pPr lvl="0" indent="0" marL="0">
              <a:buNone/>
            </a:pPr>
            <a:r>
              <a:rPr/>
              <a:t>DroneML is the engine.</a:t>
            </a:r>
          </a:p>
          <a:p>
            <a:pPr lvl="0" indent="0" marL="0">
              <a:buNone/>
            </a:pPr>
            <a:r>
              <a:rPr/>
              <a:t>DroneATLAS is the platform experience.</a:t>
            </a:r>
          </a:p>
          <a:p>
            <a:pPr lvl="0" indent="0" marL="0">
              <a:buNone/>
            </a:pPr>
            <a:r>
              <a:rPr b="1"/>
              <a:t>Visual placeholder:</a:t>
            </a:r>
            <a:r>
              <a:rPr/>
              <a:t> </a:t>
            </a:r>
            <a:r>
              <a:rPr>
                <a:latin typeface="Courier"/>
              </a:rPr>
              <a:t>12-droneatlas-platform.jpg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Drag, Drop, Process</a:t>
            </a:r>
          </a:p>
        </p:txBody>
      </p:sp>
      <p:sp>
        <p:nvSpPr>
          <p:cNvPr id="3" name="Content Placeholder 2"/>
          <p:cNvSpPr>
            <a:spLocks noGrp="1"/>
          </p:cNvSpPr>
          <p:nvPr>
            <p:ph idx="1"/>
          </p:nvPr>
        </p:nvSpPr>
        <p:spPr/>
        <p:txBody>
          <a:bodyPr/>
          <a:lstStyle/>
          <a:p>
            <a:pPr lvl="0" indent="0" marL="0">
              <a:buNone/>
            </a:pPr>
            <a:r>
              <a:rPr b="1"/>
              <a:t>Drone imagery becomes geospatial ML output.</a:t>
            </a:r>
          </a:p>
          <a:p>
            <a:pPr lvl="0" indent="-342900" marL="342900">
              <a:buAutoNum type="arabicPeriod"/>
            </a:pPr>
            <a:r>
              <a:rPr/>
              <a:t>Add drone-derived layers</a:t>
            </a:r>
          </a:p>
          <a:p>
            <a:pPr lvl="0" indent="-342900" marL="342900">
              <a:buAutoNum type="arabicPeriod"/>
            </a:pPr>
            <a:r>
              <a:rPr/>
              <a:t>Organize sensor data and metadata</a:t>
            </a:r>
          </a:p>
          <a:p>
            <a:pPr lvl="0" indent="-342900" marL="342900">
              <a:buAutoNum type="arabicPeriod"/>
            </a:pPr>
            <a:r>
              <a:rPr/>
              <a:t>Run the DroneML / Pycoeus pipeline</a:t>
            </a:r>
          </a:p>
          <a:p>
            <a:pPr lvl="0" indent="-342900" marL="342900">
              <a:buAutoNum type="arabicPeriod"/>
            </a:pPr>
            <a:r>
              <a:rPr/>
              <a:t>Return the probability map to the research workspace</a:t>
            </a:r>
          </a:p>
          <a:p>
            <a:pPr lvl="0" indent="0" marL="0">
              <a:buNone/>
            </a:pPr>
            <a:r>
              <a:rPr b="1"/>
              <a:t>Visual placeholder:</a:t>
            </a:r>
            <a:r>
              <a:rPr/>
              <a:t> </a:t>
            </a:r>
            <a:r>
              <a:rPr>
                <a:latin typeface="Courier"/>
              </a:rPr>
              <a:t>13-drag-drop-process.jpg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Explore The Site</a:t>
            </a:r>
          </a:p>
        </p:txBody>
      </p:sp>
      <p:sp>
        <p:nvSpPr>
          <p:cNvPr id="3" name="Content Placeholder 2"/>
          <p:cNvSpPr>
            <a:spLocks noGrp="1"/>
          </p:cNvSpPr>
          <p:nvPr>
            <p:ph idx="1"/>
          </p:nvPr>
        </p:nvSpPr>
        <p:spPr/>
        <p:txBody>
          <a:bodyPr/>
          <a:lstStyle/>
          <a:p>
            <a:pPr lvl="0" indent="0" marL="0">
              <a:buNone/>
            </a:pPr>
            <a:r>
              <a:rPr b="1"/>
              <a:t>The map becomes the research workspace.</a:t>
            </a:r>
          </a:p>
          <a:p>
            <a:pPr lvl="0" indent="0" marL="0">
              <a:buNone/>
            </a:pPr>
            <a:r>
              <a:rPr/>
              <a:t>Switch to demo or play embedded video.</a:t>
            </a:r>
          </a:p>
          <a:p>
            <a:pPr lvl="0" indent="0" marL="0">
              <a:buNone/>
            </a:pPr>
            <a:r>
              <a:rPr/>
              <a:t>Show:</a:t>
            </a:r>
          </a:p>
          <a:p>
            <a:pPr lvl="0"/>
            <a:r>
              <a:rPr/>
              <a:t>drone flight over the site</a:t>
            </a:r>
          </a:p>
          <a:p>
            <a:pPr lvl="0"/>
            <a:r>
              <a:rPr/>
              <a:t>sensor layers in context</a:t>
            </a:r>
          </a:p>
          <a:p>
            <a:pPr lvl="0"/>
            <a:r>
              <a:rPr/>
              <a:t>map-based spatial exploration</a:t>
            </a:r>
          </a:p>
          <a:p>
            <a:pPr lvl="0" indent="0" marL="0">
              <a:buNone/>
            </a:pPr>
            <a:r>
              <a:rPr b="1"/>
              <a:t>Video placeholder:</a:t>
            </a:r>
            <a:r>
              <a:rPr/>
              <a:t> </a:t>
            </a:r>
            <a:r>
              <a:rPr>
                <a:latin typeface="Courier"/>
              </a:rPr>
              <a:t>droneatlas-map-exploration.mp4</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From Prediction To Archaeological Insight</a:t>
            </a:r>
          </a:p>
        </p:txBody>
      </p:sp>
      <p:sp>
        <p:nvSpPr>
          <p:cNvPr id="3" name="Content Placeholder 2"/>
          <p:cNvSpPr>
            <a:spLocks noGrp="1"/>
          </p:cNvSpPr>
          <p:nvPr>
            <p:ph idx="1"/>
          </p:nvPr>
        </p:nvSpPr>
        <p:spPr/>
        <p:txBody>
          <a:bodyPr/>
          <a:lstStyle/>
          <a:p>
            <a:pPr lvl="0" indent="0" marL="0">
              <a:buNone/>
            </a:pPr>
            <a:r>
              <a:rPr b="1"/>
              <a:t>A 3D probability surface for expert interpretation.</a:t>
            </a:r>
          </a:p>
          <a:p>
            <a:pPr lvl="0" indent="0" marL="0">
              <a:buNone/>
            </a:pPr>
            <a:r>
              <a:rPr/>
              <a:t>The model does not declare archaeological truth.</a:t>
            </a:r>
          </a:p>
          <a:p>
            <a:pPr lvl="0" indent="0" marL="0">
              <a:buNone/>
            </a:pPr>
            <a:r>
              <a:rPr/>
              <a:t>It shows where the buried signal may be strongest, and where expert interpretation should focus.</a:t>
            </a:r>
          </a:p>
          <a:p>
            <a:pPr lvl="0" indent="0" marL="0">
              <a:buNone/>
            </a:pPr>
            <a:r>
              <a:rPr b="1"/>
              <a:t>Video placeholder:</a:t>
            </a:r>
            <a:r>
              <a:rPr/>
              <a:t> </a:t>
            </a:r>
            <a:r>
              <a:rPr>
                <a:latin typeface="Courier"/>
              </a:rPr>
              <a:t>droneatlas-3d-probability-surface.mp4</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Closing</a:t>
            </a:r>
          </a:p>
        </p:txBody>
      </p:sp>
      <p:sp>
        <p:nvSpPr>
          <p:cNvPr id="3" name="Content Placeholder 2"/>
          <p:cNvSpPr>
            <a:spLocks noGrp="1"/>
          </p:cNvSpPr>
          <p:nvPr>
            <p:ph idx="1"/>
          </p:nvPr>
        </p:nvSpPr>
        <p:spPr/>
        <p:txBody>
          <a:bodyPr/>
          <a:lstStyle/>
          <a:p>
            <a:pPr lvl="0" indent="0" marL="0">
              <a:buNone/>
            </a:pPr>
            <a:r>
              <a:rPr b="1"/>
              <a:t>DroneML makes hidden signals detectable.</a:t>
            </a:r>
          </a:p>
          <a:p>
            <a:pPr lvl="0" indent="0" marL="0">
              <a:buNone/>
            </a:pPr>
            <a:r>
              <a:rPr b="1"/>
              <a:t>DroneATLAS makes the workflow accessible, visual, and reusable.</a:t>
            </a:r>
          </a:p>
          <a:p>
            <a:pPr lvl="0" indent="0" marL="0">
              <a:buNone/>
            </a:pPr>
            <a:r>
              <a:rPr/>
              <a:t>Research software engineering turns a complex expert method into scientific infrastructure.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DroneML + DroneATLAS</dc:title>
  <dc:creator>Netherlands eScience Center / 4D Research Lab</dc:creator>
  <cp:keywords/>
  <dcterms:created xsi:type="dcterms:W3CDTF">2026-05-19T13:36:41Z</dcterms:created>
  <dcterms:modified xsi:type="dcterms:W3CDTF">2026-05-19T13:36:41Z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vt:lpwstr>
  </property>
  <property fmtid="{D5CDD505-2E9C-101B-9397-08002B2CF9AE}" pid="3" name="subtitle">
    <vt:lpwstr>In search of a castle</vt:lpwstr>
  </property>
</Properties>
</file>